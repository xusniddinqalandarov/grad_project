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Sora"/>
      <p:regular r:id="rId31"/>
      <p:bold r:id="rId32"/>
    </p:embeddedFont>
    <p:embeddedFont>
      <p:font typeface="Sora Medium"/>
      <p:regular r:id="rId33"/>
      <p:bold r:id="rId34"/>
    </p:embeddedFont>
    <p:embeddedFont>
      <p:font typeface="IBM Plex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-regular.fntdata"/><Relationship Id="rId30" Type="http://schemas.openxmlformats.org/officeDocument/2006/relationships/font" Target="fonts/SoraExtraLight-bold.fntdata"/><Relationship Id="rId33" Type="http://schemas.openxmlformats.org/officeDocument/2006/relationships/font" Target="fonts/SoraMedium-regular.fntdata"/><Relationship Id="rId32" Type="http://schemas.openxmlformats.org/officeDocument/2006/relationships/font" Target="fonts/Sora-bold.fntdata"/><Relationship Id="rId35" Type="http://schemas.openxmlformats.org/officeDocument/2006/relationships/font" Target="fonts/IBMPlexSansSemiBold-regular.fntdata"/><Relationship Id="rId34" Type="http://schemas.openxmlformats.org/officeDocument/2006/relationships/font" Target="fonts/SoraMedium-bold.fntdata"/><Relationship Id="rId37" Type="http://schemas.openxmlformats.org/officeDocument/2006/relationships/font" Target="fonts/IBMPlexSansSemiBold-italic.fntdata"/><Relationship Id="rId36" Type="http://schemas.openxmlformats.org/officeDocument/2006/relationships/font" Target="fonts/IBMPlexSansSemiBold-bold.fntdata"/><Relationship Id="rId38" Type="http://schemas.openxmlformats.org/officeDocument/2006/relationships/font" Target="fonts/IBMPlexSansSemiBold-boldItalic.fntdata"/><Relationship Id="rId20" Type="http://schemas.openxmlformats.org/officeDocument/2006/relationships/font" Target="fonts/IBMPlexSans-boldItalic.fntdata"/><Relationship Id="rId22" Type="http://schemas.openxmlformats.org/officeDocument/2006/relationships/font" Target="fonts/SoraSemiBold-bold.fntdata"/><Relationship Id="rId21" Type="http://schemas.openxmlformats.org/officeDocument/2006/relationships/font" Target="fonts/SoraSemiBold-regular.fntdata"/><Relationship Id="rId24" Type="http://schemas.openxmlformats.org/officeDocument/2006/relationships/font" Target="fonts/IBMPlexSansMedium-bold.fntdata"/><Relationship Id="rId23" Type="http://schemas.openxmlformats.org/officeDocument/2006/relationships/font" Target="fonts/IBMPlexSansMedium-regular.fntdata"/><Relationship Id="rId26" Type="http://schemas.openxmlformats.org/officeDocument/2006/relationships/font" Target="fonts/IBMPlexSansMedium-boldItalic.fntdata"/><Relationship Id="rId25" Type="http://schemas.openxmlformats.org/officeDocument/2006/relationships/font" Target="fonts/IBMPlexSansMedium-italic.fntdata"/><Relationship Id="rId28" Type="http://schemas.openxmlformats.org/officeDocument/2006/relationships/font" Target="fonts/SoraLight-bold.fntdata"/><Relationship Id="rId27" Type="http://schemas.openxmlformats.org/officeDocument/2006/relationships/font" Target="fonts/SoraLight-regular.fntdata"/><Relationship Id="rId29" Type="http://schemas.openxmlformats.org/officeDocument/2006/relationships/font" Target="fonts/SoraExtraLigh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1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ba0502929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ba0502929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ba0502929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ba0502929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aba0502929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aba0502929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aba0502929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aba0502929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ba0502929_0_2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aba0502929_0_2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aba0502929_0_2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aba0502929_0_2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ba0502929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aba0502929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aba0502929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aba0502929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aba0502929_0_1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aba0502929_0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aba0502929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aba0502929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aba0502929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aba0502929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New Uzbekistan University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Group Project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Mobile Programming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896" name="Google Shape;896;p52"/>
          <p:cNvSpPr txBox="1"/>
          <p:nvPr>
            <p:ph idx="6" type="subTitle"/>
          </p:nvPr>
        </p:nvSpPr>
        <p:spPr>
          <a:xfrm>
            <a:off x="274350" y="4209496"/>
            <a:ext cx="5760600" cy="402000"/>
          </a:xfrm>
          <a:prstGeom prst="rect">
            <a:avLst/>
          </a:prstGeom>
        </p:spPr>
        <p:txBody>
          <a:bodyPr anchorCtr="0" anchor="b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Clean Architecture, Riverpod</a:t>
            </a:r>
            <a:endParaRPr sz="1450"/>
          </a:p>
        </p:txBody>
      </p:sp>
      <p:sp>
        <p:nvSpPr>
          <p:cNvPr id="897" name="Google Shape;897;p52"/>
          <p:cNvSpPr txBox="1"/>
          <p:nvPr>
            <p:ph idx="7" type="subTitle"/>
          </p:nvPr>
        </p:nvSpPr>
        <p:spPr>
          <a:xfrm>
            <a:off x="274350" y="3871811"/>
            <a:ext cx="2148000" cy="287700"/>
          </a:xfrm>
          <a:prstGeom prst="rect">
            <a:avLst/>
          </a:prstGeom>
        </p:spPr>
        <p:txBody>
          <a:bodyPr anchorCtr="0" anchor="t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30"/>
              <a:t>4</a:t>
            </a:r>
            <a:r>
              <a:rPr b="0" lang="en" sz="2030"/>
              <a:t>.</a:t>
            </a:r>
            <a:endParaRPr b="0" sz="2030"/>
          </a:p>
        </p:txBody>
      </p:sp>
      <p:sp>
        <p:nvSpPr>
          <p:cNvPr id="898" name="Google Shape;898;p52"/>
          <p:cNvSpPr txBox="1"/>
          <p:nvPr>
            <p:ph idx="8" type="subTitle"/>
          </p:nvPr>
        </p:nvSpPr>
        <p:spPr>
          <a:xfrm>
            <a:off x="274350" y="3436568"/>
            <a:ext cx="5760600" cy="402000"/>
          </a:xfrm>
          <a:prstGeom prst="rect">
            <a:avLst/>
          </a:prstGeom>
        </p:spPr>
        <p:txBody>
          <a:bodyPr anchorCtr="0" anchor="b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Firebase backend</a:t>
            </a:r>
            <a:endParaRPr sz="1450"/>
          </a:p>
        </p:txBody>
      </p:sp>
      <p:sp>
        <p:nvSpPr>
          <p:cNvPr id="899" name="Google Shape;899;p52"/>
          <p:cNvSpPr txBox="1"/>
          <p:nvPr>
            <p:ph idx="9" type="subTitle"/>
          </p:nvPr>
        </p:nvSpPr>
        <p:spPr>
          <a:xfrm>
            <a:off x="274350" y="3098883"/>
            <a:ext cx="2148000" cy="287700"/>
          </a:xfrm>
          <a:prstGeom prst="rect">
            <a:avLst/>
          </a:prstGeom>
        </p:spPr>
        <p:txBody>
          <a:bodyPr anchorCtr="0" anchor="t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30"/>
              <a:t>3.</a:t>
            </a:r>
            <a:endParaRPr b="0" sz="2030"/>
          </a:p>
        </p:txBody>
      </p:sp>
      <p:sp>
        <p:nvSpPr>
          <p:cNvPr id="900" name="Google Shape;900;p52"/>
          <p:cNvSpPr txBox="1"/>
          <p:nvPr>
            <p:ph idx="14" type="subTitle"/>
          </p:nvPr>
        </p:nvSpPr>
        <p:spPr>
          <a:xfrm>
            <a:off x="274350" y="2326499"/>
            <a:ext cx="2148000" cy="287700"/>
          </a:xfrm>
          <a:prstGeom prst="rect">
            <a:avLst/>
          </a:prstGeom>
        </p:spPr>
        <p:txBody>
          <a:bodyPr anchorCtr="0" anchor="t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30"/>
              <a:t>2</a:t>
            </a:r>
            <a:r>
              <a:rPr b="0" lang="en" sz="2030"/>
              <a:t>.</a:t>
            </a:r>
            <a:endParaRPr b="0" sz="2030"/>
          </a:p>
        </p:txBody>
      </p:sp>
      <p:sp>
        <p:nvSpPr>
          <p:cNvPr id="901" name="Google Shape;901;p52"/>
          <p:cNvSpPr txBox="1"/>
          <p:nvPr>
            <p:ph idx="15" type="subTitle"/>
          </p:nvPr>
        </p:nvSpPr>
        <p:spPr>
          <a:xfrm>
            <a:off x="274350" y="1891799"/>
            <a:ext cx="5760600" cy="402000"/>
          </a:xfrm>
          <a:prstGeom prst="rect">
            <a:avLst/>
          </a:prstGeom>
        </p:spPr>
        <p:txBody>
          <a:bodyPr anchorCtr="0" anchor="b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Flutter mobile app for university students</a:t>
            </a:r>
            <a:endParaRPr sz="1450"/>
          </a:p>
        </p:txBody>
      </p:sp>
      <p:sp>
        <p:nvSpPr>
          <p:cNvPr id="902" name="Google Shape;902;p52"/>
          <p:cNvSpPr txBox="1"/>
          <p:nvPr>
            <p:ph idx="16" type="subTitle"/>
          </p:nvPr>
        </p:nvSpPr>
        <p:spPr>
          <a:xfrm>
            <a:off x="274350" y="1554115"/>
            <a:ext cx="2148000" cy="287700"/>
          </a:xfrm>
          <a:prstGeom prst="rect">
            <a:avLst/>
          </a:prstGeom>
        </p:spPr>
        <p:txBody>
          <a:bodyPr anchorCtr="0" anchor="t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30"/>
              <a:t>1</a:t>
            </a:r>
            <a:r>
              <a:rPr b="0" lang="en" sz="2030"/>
              <a:t>.</a:t>
            </a:r>
            <a:endParaRPr b="0" sz="2030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274350" y="2655483"/>
            <a:ext cx="5760600" cy="402000"/>
          </a:xfrm>
          <a:prstGeom prst="rect">
            <a:avLst/>
          </a:prstGeom>
        </p:spPr>
        <p:txBody>
          <a:bodyPr anchorCtr="0" anchor="b" bIns="132600" lIns="0" spcFirstLastPara="1" rIns="1326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Canteen, s</a:t>
            </a:r>
            <a:r>
              <a:rPr lang="en" sz="1450"/>
              <a:t>c</a:t>
            </a:r>
            <a:r>
              <a:rPr lang="en" sz="1450"/>
              <a:t>hedule, assignments, GPA, rooms</a:t>
            </a:r>
            <a:endParaRPr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3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09" name="Google Shape;909;p53"/>
          <p:cNvSpPr txBox="1"/>
          <p:nvPr/>
        </p:nvSpPr>
        <p:spPr>
          <a:xfrm>
            <a:off x="154900" y="2288525"/>
            <a:ext cx="4722000" cy="15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Xuniddin Qalandarov 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Muxammadxon Asrorov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Abdulaziz Muxtorov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Jasurbek Ruziboyev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Mekan Kilichov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Flutter 3.9.2+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Riverpod State Management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Firebase (Auth, Firestore, Storage)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go_router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Freezed + JSON Serializable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5" name="Google Shape;915;p54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Feature-based Clean Architecture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Layers: Presentation → Domain → Data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Repositories &amp; Data Sources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Organized for scalability and maintainability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21" name="Google Shape;921;p55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&amp; Project Structure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6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Canteen: View, filter, details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Schedule: Add/Edit/Delete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Assignments: CRUD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GPA calculator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Rooms &amp; Peer Teaching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27" name="Google Shape;927;p56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Key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2" name="Google Shape;932;p57"/>
          <p:cNvCxnSpPr>
            <a:endCxn id="933" idx="2"/>
          </p:cNvCxnSpPr>
          <p:nvPr/>
        </p:nvCxnSpPr>
        <p:spPr>
          <a:xfrm>
            <a:off x="682800" y="2676626"/>
            <a:ext cx="78489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57"/>
          <p:cNvSpPr/>
          <p:nvPr/>
        </p:nvSpPr>
        <p:spPr>
          <a:xfrm>
            <a:off x="21492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57"/>
          <p:cNvSpPr/>
          <p:nvPr/>
        </p:nvSpPr>
        <p:spPr>
          <a:xfrm>
            <a:off x="3712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57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7" name="Google Shape;937;p57"/>
          <p:cNvSpPr/>
          <p:nvPr/>
        </p:nvSpPr>
        <p:spPr>
          <a:xfrm>
            <a:off x="5340438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8" name="Google Shape;938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39" name="Google Shape;939;p57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endParaRPr/>
          </a:p>
        </p:txBody>
      </p:sp>
      <p:sp>
        <p:nvSpPr>
          <p:cNvPr id="940" name="Google Shape;940;p57"/>
          <p:cNvSpPr txBox="1"/>
          <p:nvPr>
            <p:ph idx="3" type="title"/>
          </p:nvPr>
        </p:nvSpPr>
        <p:spPr>
          <a:xfrm>
            <a:off x="1995300" y="2031200"/>
            <a:ext cx="669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941" name="Google Shape;941;p57"/>
          <p:cNvSpPr txBox="1"/>
          <p:nvPr>
            <p:ph idx="4" type="title"/>
          </p:nvPr>
        </p:nvSpPr>
        <p:spPr>
          <a:xfrm>
            <a:off x="3310525" y="2031200"/>
            <a:ext cx="13746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</a:t>
            </a:r>
            <a:endParaRPr/>
          </a:p>
        </p:txBody>
      </p:sp>
      <p:sp>
        <p:nvSpPr>
          <p:cNvPr id="942" name="Google Shape;942;p57"/>
          <p:cNvSpPr txBox="1"/>
          <p:nvPr>
            <p:ph idx="6" type="title"/>
          </p:nvPr>
        </p:nvSpPr>
        <p:spPr>
          <a:xfrm>
            <a:off x="510808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943" name="Google Shape;943;p57"/>
          <p:cNvSpPr txBox="1"/>
          <p:nvPr>
            <p:ph idx="7" type="title"/>
          </p:nvPr>
        </p:nvSpPr>
        <p:spPr>
          <a:xfrm>
            <a:off x="6518775" y="2031200"/>
            <a:ext cx="11958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944" name="Google Shape;944;p57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Requirements, roles, Flutter choice</a:t>
            </a:r>
            <a:endParaRPr/>
          </a:p>
        </p:txBody>
      </p:sp>
      <p:sp>
        <p:nvSpPr>
          <p:cNvPr id="945" name="Google Shape;945;p57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46" name="Google Shape;946;p57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Lifecycle</a:t>
            </a:r>
            <a:endParaRPr/>
          </a:p>
        </p:txBody>
      </p:sp>
      <p:sp>
        <p:nvSpPr>
          <p:cNvPr id="947" name="Google Shape;947;p57"/>
          <p:cNvSpPr txBox="1"/>
          <p:nvPr>
            <p:ph idx="8" type="body"/>
          </p:nvPr>
        </p:nvSpPr>
        <p:spPr>
          <a:xfrm>
            <a:off x="3208075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UI, providers, Firebase integration</a:t>
            </a:r>
            <a:endParaRPr/>
          </a:p>
        </p:txBody>
      </p:sp>
      <p:sp>
        <p:nvSpPr>
          <p:cNvPr id="948" name="Google Shape;948;p57"/>
          <p:cNvSpPr txBox="1"/>
          <p:nvPr>
            <p:ph idx="9" type="body"/>
          </p:nvPr>
        </p:nvSpPr>
        <p:spPr>
          <a:xfrm>
            <a:off x="4777200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Unit, widget, integration, 45 black box cases</a:t>
            </a:r>
            <a:endParaRPr/>
          </a:p>
        </p:txBody>
      </p:sp>
      <p:sp>
        <p:nvSpPr>
          <p:cNvPr id="949" name="Google Shape;949;p57"/>
          <p:cNvSpPr txBox="1"/>
          <p:nvPr>
            <p:ph idx="14" type="body"/>
          </p:nvPr>
        </p:nvSpPr>
        <p:spPr>
          <a:xfrm>
            <a:off x="16215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Architecture, Firestore schema</a:t>
            </a:r>
            <a:endParaRPr/>
          </a:p>
        </p:txBody>
      </p:sp>
      <p:sp>
        <p:nvSpPr>
          <p:cNvPr id="933" name="Google Shape;933;p57"/>
          <p:cNvSpPr/>
          <p:nvPr/>
        </p:nvSpPr>
        <p:spPr>
          <a:xfrm>
            <a:off x="85317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0" name="Google Shape;950;p57"/>
          <p:cNvSpPr/>
          <p:nvPr/>
        </p:nvSpPr>
        <p:spPr>
          <a:xfrm>
            <a:off x="6936075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1" name="Google Shape;951;p57"/>
          <p:cNvSpPr txBox="1"/>
          <p:nvPr>
            <p:ph idx="7" type="title"/>
          </p:nvPr>
        </p:nvSpPr>
        <p:spPr>
          <a:xfrm>
            <a:off x="7948200" y="2031200"/>
            <a:ext cx="11958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</a:t>
            </a:r>
            <a:endParaRPr/>
          </a:p>
        </p:txBody>
      </p:sp>
      <p:sp>
        <p:nvSpPr>
          <p:cNvPr id="952" name="Google Shape;952;p57"/>
          <p:cNvSpPr txBox="1"/>
          <p:nvPr>
            <p:ph idx="9" type="body"/>
          </p:nvPr>
        </p:nvSpPr>
        <p:spPr>
          <a:xfrm>
            <a:off x="637282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&amp; iOS builds</a:t>
            </a:r>
            <a:endParaRPr/>
          </a:p>
        </p:txBody>
      </p:sp>
      <p:sp>
        <p:nvSpPr>
          <p:cNvPr id="953" name="Google Shape;953;p57"/>
          <p:cNvSpPr txBox="1"/>
          <p:nvPr>
            <p:ph idx="9" type="body"/>
          </p:nvPr>
        </p:nvSpPr>
        <p:spPr>
          <a:xfrm>
            <a:off x="7656300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&amp; improvements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8"/>
          <p:cNvSpPr/>
          <p:nvPr/>
        </p:nvSpPr>
        <p:spPr>
          <a:xfrm rot="5400000">
            <a:off x="2212138" y="2625575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9" name="Google Shape;959;p58"/>
          <p:cNvSpPr/>
          <p:nvPr/>
        </p:nvSpPr>
        <p:spPr>
          <a:xfrm rot="5400000">
            <a:off x="442625" y="2625575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0" name="Google Shape;960;p58"/>
          <p:cNvSpPr/>
          <p:nvPr/>
        </p:nvSpPr>
        <p:spPr>
          <a:xfrm rot="5400000">
            <a:off x="4098075" y="2625575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1" name="Google Shape;961;p58"/>
          <p:cNvSpPr/>
          <p:nvPr/>
        </p:nvSpPr>
        <p:spPr>
          <a:xfrm rot="5400000">
            <a:off x="5907350" y="2625575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2" name="Google Shape;962;p58"/>
          <p:cNvSpPr txBox="1"/>
          <p:nvPr>
            <p:ph type="title"/>
          </p:nvPr>
        </p:nvSpPr>
        <p:spPr>
          <a:xfrm>
            <a:off x="228600" y="3263113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 black box test cases</a:t>
            </a:r>
            <a:endParaRPr/>
          </a:p>
        </p:txBody>
      </p:sp>
      <p:sp>
        <p:nvSpPr>
          <p:cNvPr id="963" name="Google Shape;963;p58"/>
          <p:cNvSpPr txBox="1"/>
          <p:nvPr>
            <p:ph idx="2" type="title"/>
          </p:nvPr>
        </p:nvSpPr>
        <p:spPr>
          <a:xfrm>
            <a:off x="2056675" y="3263088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passed</a:t>
            </a:r>
            <a:endParaRPr/>
          </a:p>
        </p:txBody>
      </p:sp>
      <p:sp>
        <p:nvSpPr>
          <p:cNvPr id="964" name="Google Shape;964;p58"/>
          <p:cNvSpPr txBox="1"/>
          <p:nvPr>
            <p:ph idx="3" type="title"/>
          </p:nvPr>
        </p:nvSpPr>
        <p:spPr>
          <a:xfrm>
            <a:off x="3884750" y="3263088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&amp; error handling</a:t>
            </a:r>
            <a:endParaRPr/>
          </a:p>
        </p:txBody>
      </p:sp>
      <p:sp>
        <p:nvSpPr>
          <p:cNvPr id="965" name="Google Shape;965;p58"/>
          <p:cNvSpPr txBox="1"/>
          <p:nvPr>
            <p:ph idx="4" type="title"/>
          </p:nvPr>
        </p:nvSpPr>
        <p:spPr>
          <a:xfrm>
            <a:off x="5730900" y="3263088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Cross-platform tests</a:t>
            </a:r>
            <a:endParaRPr/>
          </a:p>
        </p:txBody>
      </p:sp>
      <p:sp>
        <p:nvSpPr>
          <p:cNvPr id="966" name="Google Shape;966;p58"/>
          <p:cNvSpPr txBox="1"/>
          <p:nvPr>
            <p:ph idx="13" type="title"/>
          </p:nvPr>
        </p:nvSpPr>
        <p:spPr>
          <a:xfrm>
            <a:off x="363725" y="2704488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67" name="Google Shape;967;p58"/>
          <p:cNvSpPr txBox="1"/>
          <p:nvPr>
            <p:ph idx="14" type="title"/>
          </p:nvPr>
        </p:nvSpPr>
        <p:spPr>
          <a:xfrm>
            <a:off x="2133250" y="2704488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68" name="Google Shape;968;p58"/>
          <p:cNvSpPr txBox="1"/>
          <p:nvPr>
            <p:ph idx="15" type="title"/>
          </p:nvPr>
        </p:nvSpPr>
        <p:spPr>
          <a:xfrm>
            <a:off x="4019175" y="2704488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69" name="Google Shape;969;p58"/>
          <p:cNvSpPr txBox="1"/>
          <p:nvPr>
            <p:ph idx="16" type="title"/>
          </p:nvPr>
        </p:nvSpPr>
        <p:spPr>
          <a:xfrm>
            <a:off x="5828450" y="2704488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70" name="Google Shape;970;p58"/>
          <p:cNvSpPr txBox="1"/>
          <p:nvPr/>
        </p:nvSpPr>
        <p:spPr>
          <a:xfrm>
            <a:off x="363725" y="1236675"/>
            <a:ext cx="48117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Testing &amp; Quality Assurance</a:t>
            </a:r>
            <a:endParaRPr sz="2500">
              <a:solidFill>
                <a:schemeClr val="accent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9"/>
          <p:cNvSpPr txBox="1"/>
          <p:nvPr>
            <p:ph type="title"/>
          </p:nvPr>
        </p:nvSpPr>
        <p:spPr>
          <a:xfrm>
            <a:off x="59700" y="228600"/>
            <a:ext cx="6189900" cy="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Portability &amp; Requirements</a:t>
            </a:r>
            <a:endParaRPr/>
          </a:p>
        </p:txBody>
      </p:sp>
      <p:sp>
        <p:nvSpPr>
          <p:cNvPr id="976" name="Google Shape;976;p59"/>
          <p:cNvSpPr txBox="1"/>
          <p:nvPr>
            <p:ph idx="1" type="subTitle"/>
          </p:nvPr>
        </p:nvSpPr>
        <p:spPr>
          <a:xfrm>
            <a:off x="115025" y="894425"/>
            <a:ext cx="3307800" cy="3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Portability: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codebase for Android + iOS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UI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95%+ device coverage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Requirements: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API 21+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iOS 12.0+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Internet, storage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camera for menu uploads</a:t>
            </a:r>
            <a:endParaRPr b="1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0"/>
          <p:cNvSpPr txBox="1"/>
          <p:nvPr>
            <p:ph idx="1" type="subTitle"/>
          </p:nvPr>
        </p:nvSpPr>
        <p:spPr>
          <a:xfrm>
            <a:off x="115025" y="1990925"/>
            <a:ext cx="3742500" cy="29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Achievements: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feature set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Architecture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Firebase real-time backend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tested &amp; portable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Lost &amp; Found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notifications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 mode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Biometric login</a:t>
            </a:r>
            <a:endParaRPr b="1" sz="1200"/>
          </a:p>
        </p:txBody>
      </p:sp>
      <p:sp>
        <p:nvSpPr>
          <p:cNvPr id="982" name="Google Shape;982;p60"/>
          <p:cNvSpPr txBox="1"/>
          <p:nvPr>
            <p:ph idx="2" type="title"/>
          </p:nvPr>
        </p:nvSpPr>
        <p:spPr>
          <a:xfrm>
            <a:off x="115025" y="406250"/>
            <a:ext cx="62007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